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67" r:id="rId4"/>
    <p:sldId id="270" r:id="rId5"/>
    <p:sldId id="257" r:id="rId6"/>
    <p:sldId id="269" r:id="rId7"/>
    <p:sldId id="273" r:id="rId8"/>
    <p:sldId id="259" r:id="rId9"/>
    <p:sldId id="274" r:id="rId10"/>
    <p:sldId id="260" r:id="rId11"/>
    <p:sldId id="261" r:id="rId12"/>
    <p:sldId id="262" r:id="rId13"/>
    <p:sldId id="275" r:id="rId14"/>
    <p:sldId id="276" r:id="rId15"/>
    <p:sldId id="280" r:id="rId16"/>
    <p:sldId id="277" r:id="rId17"/>
    <p:sldId id="265" r:id="rId18"/>
    <p:sldId id="264" r:id="rId19"/>
    <p:sldId id="271" r:id="rId20"/>
    <p:sldId id="279" r:id="rId21"/>
    <p:sldId id="272" r:id="rId22"/>
    <p:sldId id="278" r:id="rId23"/>
  </p:sldIdLst>
  <p:sldSz cx="14630400" cy="8229600"/>
  <p:notesSz cx="8229600" cy="14630400"/>
  <p:embeddedFontLst>
    <p:embeddedFont>
      <p:font typeface="Bahnschrift Light" panose="020B0502040204020203" pitchFamily="34" charset="0"/>
      <p:regular r:id="rId25"/>
    </p:embeddedFont>
    <p:embeddedFont>
      <p:font typeface="Eras Bold ITC" panose="020B0907030504020204" pitchFamily="34" charset="0"/>
      <p:regular r:id="rId26"/>
    </p:embeddedFont>
    <p:embeddedFont>
      <p:font typeface="Merriweather" panose="00000500000000000000" pitchFamily="2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9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47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4DB7-9BBD-A37A-C2C0-9F0467F31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FB6DE-73E3-A8BF-B0BA-8F8D2828E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DA9F52-08A6-1B49-CE70-E916D2208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C3715-BF00-ABD4-C50F-F806DCE9E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30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BE23E-1952-EBD0-DA58-3F8F57E0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0DC73-591C-A8D9-9322-67D2499B8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C8EE5-F9E4-3DEA-D408-93A14E337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87B96-97CD-3A86-D163-C7A0639094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65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06C7-627B-563A-C894-EAE6A01E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B28BE-11EB-4F9D-4B11-B910FAAF3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B6D58-5CFC-91E3-4027-BAF055547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8C445-509C-9E29-08B3-B83CD3F3FA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337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CC97-6541-628E-DD0A-B096D5D3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825DC-C9F1-BB6E-F432-96C40638C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13CFD-1D0E-F337-7F8B-7047B7DC5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68B044-8656-06CC-BD46-52224CFC7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408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3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037E905F-8325-E465-AAAF-AF1B3E886E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5" name="AutoShape 2" descr="3d Animations Of Scooter And Car Rental Powerpoint Background For Free  Download - Slidesdocs">
            <a:extLst>
              <a:ext uri="{FF2B5EF4-FFF2-40B4-BE49-F238E27FC236}">
                <a16:creationId xmlns:a16="http://schemas.microsoft.com/office/drawing/2014/main" id="{002FD6E0-95F9-A26F-CA3B-BD31A1E6E3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AutoShape 4" descr="3d Animations Of Scooter And Car Rental Powerpoint Background For Free  Download - Slidesdocs">
            <a:extLst>
              <a:ext uri="{FF2B5EF4-FFF2-40B4-BE49-F238E27FC236}">
                <a16:creationId xmlns:a16="http://schemas.microsoft.com/office/drawing/2014/main" id="{B2D207B9-6094-5483-3E47-A222748BA4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15200" y="411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8" descr="3d Animations Of Scooter And Car Rental Powerpoint Background For Free  Download - Slidesdocs">
            <a:extLst>
              <a:ext uri="{FF2B5EF4-FFF2-40B4-BE49-F238E27FC236}">
                <a16:creationId xmlns:a16="http://schemas.microsoft.com/office/drawing/2014/main" id="{8EBAA8DA-7193-D530-3456-5FF94A785E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467600" y="426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418C94-48AD-A06C-13C8-19A7BDDE98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708" r="15708" b="8902"/>
          <a:stretch>
            <a:fillRect/>
          </a:stretch>
        </p:blipFill>
        <p:spPr>
          <a:xfrm>
            <a:off x="9717741" y="0"/>
            <a:ext cx="4912659" cy="82296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B7E69297-098A-40E8-EB93-F1264DC2A77E}"/>
              </a:ext>
            </a:extLst>
          </p:cNvPr>
          <p:cNvSpPr/>
          <p:nvPr/>
        </p:nvSpPr>
        <p:spPr>
          <a:xfrm>
            <a:off x="2104446" y="2638415"/>
            <a:ext cx="6441187" cy="507831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Eras Bold ITC" panose="020B0907030504020204" pitchFamily="34" charset="0"/>
              </a:rPr>
              <a:t>BIKE RENTALS </a:t>
            </a:r>
          </a:p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Eras Bold ITC" panose="020B0907030504020204" pitchFamily="34" charset="0"/>
              </a:rPr>
              <a:t>PRESENTATION</a:t>
            </a:r>
          </a:p>
          <a:p>
            <a:pPr algn="ctr"/>
            <a:endParaRPr lang="en-US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Eras Bold ITC" panose="020B0907030504020204" pitchFamily="34" charset="0"/>
            </a:endParaRPr>
          </a:p>
          <a:p>
            <a:pPr algn="ctr"/>
            <a:endParaRPr lang="en-US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Eras Bold ITC" panose="020B0907030504020204" pitchFamily="34" charset="0"/>
            </a:endParaRPr>
          </a:p>
          <a:p>
            <a:pPr algn="ctr"/>
            <a:endParaRPr lang="en-US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chemeClr val="bg1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Eras Bold ITC" panose="020B0907030504020204" pitchFamily="34" charset="0"/>
            </a:endParaRPr>
          </a:p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Eras Bold ITC" panose="020B0907030504020204" pitchFamily="34" charset="0"/>
              </a:rPr>
              <a:t>             ~GROUP 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E05A7-EE58-7FEB-F352-16F7EF7F9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E0FC67-0FEA-F3E1-B74C-17F23CDF93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074" name="Picture 2" descr="Teamwork Characters for PowerPoint and Google Slides">
            <a:extLst>
              <a:ext uri="{FF2B5EF4-FFF2-40B4-BE49-F238E27FC236}">
                <a16:creationId xmlns:a16="http://schemas.microsoft.com/office/drawing/2014/main" id="{E50F7597-CB7E-1A51-0C2A-D19C5E22F7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2" t="18104" r="7738" b="13573"/>
          <a:stretch>
            <a:fillRect/>
          </a:stretch>
        </p:blipFill>
        <p:spPr bwMode="auto">
          <a:xfrm>
            <a:off x="9377082" y="2035024"/>
            <a:ext cx="4643718" cy="5638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9C2BFF-A8AC-B646-0972-5BF835795DFF}"/>
              </a:ext>
            </a:extLst>
          </p:cNvPr>
          <p:cNvSpPr/>
          <p:nvPr/>
        </p:nvSpPr>
        <p:spPr>
          <a:xfrm>
            <a:off x="4437324" y="555847"/>
            <a:ext cx="60067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Eras Bold ITC" panose="020B0907030504020204" pitchFamily="34" charset="0"/>
              </a:rPr>
              <a:t>TEAM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91EDA6-BC98-3624-C259-1A7A512A3AB2}"/>
              </a:ext>
            </a:extLst>
          </p:cNvPr>
          <p:cNvSpPr txBox="1"/>
          <p:nvPr/>
        </p:nvSpPr>
        <p:spPr>
          <a:xfrm>
            <a:off x="753036" y="2740689"/>
            <a:ext cx="79785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600" b="1" dirty="0">
                <a:solidFill>
                  <a:schemeClr val="bg1"/>
                </a:solidFill>
                <a:latin typeface="Merriweather" panose="00000500000000000000" pitchFamily="2" charset="0"/>
              </a:rPr>
              <a:t>Lagadapati Bhanu Krishna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b="1" dirty="0">
                <a:solidFill>
                  <a:schemeClr val="bg1"/>
                </a:solidFill>
                <a:latin typeface="Merriweather" panose="00000500000000000000" pitchFamily="2" charset="0"/>
              </a:rPr>
              <a:t>Nikita Sagar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b="1" dirty="0">
                <a:solidFill>
                  <a:schemeClr val="bg1"/>
                </a:solidFill>
                <a:latin typeface="Merriweather" panose="00000500000000000000" pitchFamily="2" charset="0"/>
              </a:rPr>
              <a:t>Gajula Anil Kumar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b="1" dirty="0">
                <a:solidFill>
                  <a:schemeClr val="bg1"/>
                </a:solidFill>
                <a:latin typeface="Merriweather" panose="00000500000000000000" pitchFamily="2" charset="0"/>
              </a:rPr>
              <a:t>Shaik Mohammed Sufyaan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b="1" dirty="0">
                <a:solidFill>
                  <a:schemeClr val="bg1"/>
                </a:solidFill>
                <a:latin typeface="Merriweather" panose="00000500000000000000" pitchFamily="2" charset="0"/>
              </a:rPr>
              <a:t>Vovia Jagadeesan</a:t>
            </a:r>
          </a:p>
          <a:p>
            <a:pPr marL="742950" indent="-742950">
              <a:buFont typeface="+mj-lt"/>
              <a:buAutoNum type="arabicPeriod"/>
            </a:pPr>
            <a:r>
              <a:rPr lang="en-IN" sz="3600" b="1" dirty="0">
                <a:solidFill>
                  <a:schemeClr val="bg1"/>
                </a:solidFill>
                <a:latin typeface="Merriweather" panose="00000500000000000000" pitchFamily="2" charset="0"/>
              </a:rPr>
              <a:t>Adarsh Sanjivan Waghmare</a:t>
            </a:r>
          </a:p>
        </p:txBody>
      </p:sp>
    </p:spTree>
    <p:extLst>
      <p:ext uri="{BB962C8B-B14F-4D97-AF65-F5344CB8AC3E}">
        <p14:creationId xmlns:p14="http://schemas.microsoft.com/office/powerpoint/2010/main" val="338486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D4ADE-23CF-C20B-775F-A3C12E54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6154CC-D7D3-F7A5-4EFA-AB3F7504F7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-197224"/>
            <a:ext cx="14630400" cy="844475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A7EC8EC-C95A-215A-27C0-B1B85E7819DC}"/>
              </a:ext>
            </a:extLst>
          </p:cNvPr>
          <p:cNvSpPr/>
          <p:nvPr/>
        </p:nvSpPr>
        <p:spPr>
          <a:xfrm>
            <a:off x="3353396" y="341352"/>
            <a:ext cx="7404252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6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 of the Project</a:t>
            </a:r>
            <a:endParaRPr lang="en-US" sz="3600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E2947A8-5905-70F4-C547-8D962C23408C}"/>
              </a:ext>
            </a:extLst>
          </p:cNvPr>
          <p:cNvSpPr/>
          <p:nvPr/>
        </p:nvSpPr>
        <p:spPr>
          <a:xfrm>
            <a:off x="1049466" y="1843191"/>
            <a:ext cx="12774110" cy="5147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Analyze the myriad factors influencing daily bike rental demand and, </a:t>
            </a:r>
          </a:p>
          <a:p>
            <a:pPr marL="342900" indent="-342900">
              <a:lnSpc>
                <a:spcPts val="185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>
              <a:lnSpc>
                <a:spcPts val="185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subsequently, to develop a robust predictive model capable of forecasting rental </a:t>
            </a:r>
          </a:p>
          <a:p>
            <a:pPr marL="342900" indent="-342900">
              <a:lnSpc>
                <a:spcPts val="185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>
              <a:lnSpc>
                <a:spcPts val="185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counts with high accuracy.</a:t>
            </a:r>
            <a:endParaRPr lang="en-US" sz="2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 how environmental factors like temperature, humidity, wind </a:t>
            </a:r>
          </a:p>
          <a:p>
            <a:pPr algn="l">
              <a:lnSpc>
                <a:spcPts val="185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speed, and weather conditions impact bike usage.</a:t>
            </a: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Analyze seasonal and temporal trends, including monthly, hourly, and </a:t>
            </a:r>
          </a:p>
          <a:p>
            <a:pPr algn="l">
              <a:lnSpc>
                <a:spcPts val="185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seasonal variations in demand.</a:t>
            </a:r>
            <a:endParaRPr lang="en-US" sz="2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 key drivers contributing to the total rental count.</a:t>
            </a:r>
            <a:endParaRPr lang="en-US" sz="2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Build and compare multiple regression models to determine the most </a:t>
            </a:r>
          </a:p>
          <a:p>
            <a:pPr algn="l">
              <a:lnSpc>
                <a:spcPts val="185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accurate prediction algorithm.</a:t>
            </a:r>
            <a:endParaRPr lang="en-US" sz="24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 data-driven insights to optimize inventory planning and operational </a:t>
            </a:r>
          </a:p>
          <a:p>
            <a:pPr algn="l"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decision-making.</a:t>
            </a:r>
          </a:p>
          <a:p>
            <a:pPr marL="342900" indent="-342900" algn="l">
              <a:buSzPct val="10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</a:endParaRPr>
          </a:p>
          <a:p>
            <a:pPr marL="342900" indent="-342900" algn="l"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005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50F9A38-242A-2D93-76DC-21F450861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353163" y="27146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5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Overview</a:t>
            </a:r>
            <a:endParaRPr lang="en-US" sz="4500" b="1" dirty="0"/>
          </a:p>
        </p:txBody>
      </p:sp>
      <p:sp>
        <p:nvSpPr>
          <p:cNvPr id="3" name="Text 1"/>
          <p:cNvSpPr/>
          <p:nvPr/>
        </p:nvSpPr>
        <p:spPr>
          <a:xfrm>
            <a:off x="740330" y="1453277"/>
            <a:ext cx="129028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section introduces the dataset used for our bike rental demand forecasting project. Sourced from the  Repository, this comprehensive dataset captures two years of hourly rental data for a bike-sharing system, providing a rich foundation for our analysis and predictive modeling efforts.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3798" y="3507581"/>
            <a:ext cx="6327934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25855" y="376963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Records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25855" y="4303157"/>
            <a:ext cx="580382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17,379 hourly observations of bike rentals.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38549" y="3507581"/>
            <a:ext cx="6328053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00605" y="376963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00605" y="4303157"/>
            <a:ext cx="5803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16 predictive attributes including environmental, seasonal, and temporal factors.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63798" y="5601653"/>
            <a:ext cx="6327934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25855" y="586370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 Period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25855" y="6397228"/>
            <a:ext cx="5803821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spans over 2 years from January 2011 to 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December 2012.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38549" y="5601653"/>
            <a:ext cx="6328053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00605" y="586370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Source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700605" y="6397228"/>
            <a:ext cx="5803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Data Repository.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949AD30B-ABC1-5AD2-20D4-6B362F3EA6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-47148"/>
            <a:ext cx="14630400" cy="827674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901533" y="186666"/>
            <a:ext cx="10827334" cy="902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endParaRPr lang="en-US" sz="3600" b="1" dirty="0">
              <a:solidFill>
                <a:srgbClr val="F5F0F0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sz="36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Workflow: From Data to Insights</a:t>
            </a:r>
            <a:endParaRPr lang="en-US" sz="3600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696" y="1503380"/>
            <a:ext cx="8850792" cy="22822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20825" y="3149335"/>
            <a:ext cx="1130193" cy="21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Building</a:t>
            </a:r>
            <a:endParaRPr lang="en-US" sz="2200" b="1" dirty="0"/>
          </a:p>
        </p:txBody>
      </p:sp>
      <p:sp>
        <p:nvSpPr>
          <p:cNvPr id="7" name="Text 2"/>
          <p:cNvSpPr/>
          <p:nvPr/>
        </p:nvSpPr>
        <p:spPr>
          <a:xfrm>
            <a:off x="8298501" y="3149335"/>
            <a:ext cx="1130193" cy="21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Eng.</a:t>
            </a:r>
            <a:endParaRPr lang="en-US" sz="2200" b="1" dirty="0"/>
          </a:p>
        </p:txBody>
      </p:sp>
      <p:sp>
        <p:nvSpPr>
          <p:cNvPr id="9" name="Text 3"/>
          <p:cNvSpPr/>
          <p:nvPr/>
        </p:nvSpPr>
        <p:spPr>
          <a:xfrm>
            <a:off x="6590406" y="3115756"/>
            <a:ext cx="1130193" cy="21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</a:t>
            </a:r>
            <a:endParaRPr lang="en-US" sz="2200" b="1" dirty="0"/>
          </a:p>
        </p:txBody>
      </p:sp>
      <p:sp>
        <p:nvSpPr>
          <p:cNvPr id="11" name="Text 4"/>
          <p:cNvSpPr/>
          <p:nvPr/>
        </p:nvSpPr>
        <p:spPr>
          <a:xfrm>
            <a:off x="5073903" y="3120462"/>
            <a:ext cx="1130194" cy="217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Cleaning</a:t>
            </a:r>
            <a:endParaRPr lang="en-US" sz="2200" b="1" dirty="0"/>
          </a:p>
        </p:txBody>
      </p:sp>
      <p:sp>
        <p:nvSpPr>
          <p:cNvPr id="13" name="Text 5"/>
          <p:cNvSpPr/>
          <p:nvPr/>
        </p:nvSpPr>
        <p:spPr>
          <a:xfrm>
            <a:off x="2928515" y="3040476"/>
            <a:ext cx="1567487" cy="435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Collection</a:t>
            </a:r>
            <a:endParaRPr lang="en-US" sz="2200" b="1" dirty="0"/>
          </a:p>
        </p:txBody>
      </p:sp>
      <p:sp>
        <p:nvSpPr>
          <p:cNvPr id="14" name="Text 6"/>
          <p:cNvSpPr/>
          <p:nvPr/>
        </p:nvSpPr>
        <p:spPr>
          <a:xfrm>
            <a:off x="609600" y="4509787"/>
            <a:ext cx="13411200" cy="2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342900" indent="-342900" algn="l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The project began with data understanding and exploratory analysis to uncover trends, seasonal </a:t>
            </a: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>
              <a:lnSpc>
                <a:spcPts val="1150"/>
              </a:lnSpc>
            </a:pP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patterns, and feature relationships. </a:t>
            </a: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This was followed by feature engineering and preprocessing to prepare the data for the data modeling </a:t>
            </a: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>
              <a:lnSpc>
                <a:spcPts val="1150"/>
              </a:lnSpc>
            </a:pP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and Model comparison. </a:t>
            </a: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Finally, multiple regression models were developed, evaluated, and compared to identify the </a:t>
            </a:r>
          </a:p>
          <a:p>
            <a:pPr marL="342900" indent="-342900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>
              <a:lnSpc>
                <a:spcPts val="1150"/>
              </a:lnSpc>
            </a:pPr>
            <a:r>
              <a:rPr lang="en-US" sz="2000" dirty="0">
                <a:solidFill>
                  <a:schemeClr val="bg1"/>
                </a:solidFill>
                <a:latin typeface="Merriweather" panose="00000500000000000000" pitchFamily="2" charset="0"/>
              </a:rPr>
              <a:t>most accurate and reliable predictive solution.</a:t>
            </a:r>
          </a:p>
          <a:p>
            <a:pPr marL="342900" indent="-342900" algn="l">
              <a:lnSpc>
                <a:spcPts val="115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  <p:sp>
        <p:nvSpPr>
          <p:cNvPr id="15" name="Text 7"/>
          <p:cNvSpPr/>
          <p:nvPr/>
        </p:nvSpPr>
        <p:spPr>
          <a:xfrm>
            <a:off x="3444478" y="4573310"/>
            <a:ext cx="123349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200" b="1" dirty="0"/>
          </a:p>
        </p:txBody>
      </p:sp>
      <p:sp>
        <p:nvSpPr>
          <p:cNvPr id="17" name="Text 9"/>
          <p:cNvSpPr/>
          <p:nvPr/>
        </p:nvSpPr>
        <p:spPr>
          <a:xfrm>
            <a:off x="3444478" y="4859893"/>
            <a:ext cx="1542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3444478" y="5089684"/>
            <a:ext cx="253936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19" name="Text 11"/>
          <p:cNvSpPr/>
          <p:nvPr/>
        </p:nvSpPr>
        <p:spPr>
          <a:xfrm>
            <a:off x="6045518" y="4573310"/>
            <a:ext cx="123349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200" b="1" dirty="0"/>
          </a:p>
        </p:txBody>
      </p:sp>
      <p:sp>
        <p:nvSpPr>
          <p:cNvPr id="21" name="Text 13"/>
          <p:cNvSpPr/>
          <p:nvPr/>
        </p:nvSpPr>
        <p:spPr>
          <a:xfrm>
            <a:off x="6045518" y="4859893"/>
            <a:ext cx="1542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6045518" y="5089684"/>
            <a:ext cx="253936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8646557" y="5089684"/>
            <a:ext cx="253936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3444478" y="5826681"/>
            <a:ext cx="1542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3444478" y="6056471"/>
            <a:ext cx="2539365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6045518" y="5826681"/>
            <a:ext cx="1542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045518" y="6056471"/>
            <a:ext cx="253936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8646557" y="5826681"/>
            <a:ext cx="239053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8646557" y="6056471"/>
            <a:ext cx="2539365" cy="296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2097369" y="7169924"/>
            <a:ext cx="23986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endParaRPr lang="en-US" sz="2400" b="1" dirty="0"/>
          </a:p>
        </p:txBody>
      </p:sp>
      <p:sp>
        <p:nvSpPr>
          <p:cNvPr id="42" name="Text 34"/>
          <p:cNvSpPr/>
          <p:nvPr/>
        </p:nvSpPr>
        <p:spPr>
          <a:xfrm>
            <a:off x="2099964" y="7408639"/>
            <a:ext cx="7741444" cy="378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CA19F379-45DB-E584-691C-DFCDA83FE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077296" y="524029"/>
            <a:ext cx="6108621" cy="625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000"/>
              </a:lnSpc>
            </a:pPr>
            <a:r>
              <a:rPr lang="en-US" sz="3600" b="1" dirty="0">
                <a:solidFill>
                  <a:srgbClr val="F5F0F0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Project Workflow: From Data to Insights</a:t>
            </a:r>
            <a:endParaRPr lang="en-US" sz="3600" b="1" dirty="0">
              <a:latin typeface="Merriweather" panose="000005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33582" y="1968775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33582" y="2339102"/>
            <a:ext cx="407943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35949" y="1948044"/>
            <a:ext cx="250352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Data Collection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33582" y="2591164"/>
            <a:ext cx="4079438" cy="58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Gathering raw bike rental data from the source.</a:t>
            </a:r>
            <a:endParaRPr lang="en-US" sz="2000" dirty="0">
              <a:latin typeface="Merriweather" panose="00000500000000000000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31689" y="1950126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75421" y="2339102"/>
            <a:ext cx="407943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63219" y="1965629"/>
            <a:ext cx="3691771" cy="630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Cleaning &amp; Preprocessing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75421" y="2554249"/>
            <a:ext cx="4079438" cy="58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Handling missing values, outliers, and formatting data for analysis readiness.</a:t>
            </a:r>
            <a:endParaRPr lang="en-US" sz="2000" dirty="0">
              <a:latin typeface="Merriweather" panose="00000500000000000000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531955" y="1967792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517261" y="2339102"/>
            <a:ext cx="407943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009448" y="1990241"/>
            <a:ext cx="3878699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Exploratory Data Analysis (EDA)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17392" y="2463343"/>
            <a:ext cx="4079438" cy="580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Understanding underlying data patterns, distributions, and inter-relationships.</a:t>
            </a:r>
            <a:endParaRPr lang="en-US" sz="2000" dirty="0">
              <a:latin typeface="Merriweather" panose="00000500000000000000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33582" y="3788093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33582" y="4105513"/>
            <a:ext cx="407943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535948" y="3756779"/>
            <a:ext cx="250352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Feature Engineering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33582" y="4264402"/>
            <a:ext cx="4079438" cy="87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Creating new, more informative features from existing data to enhance model performance.</a:t>
            </a:r>
            <a:endParaRPr lang="en-US" sz="2000" dirty="0">
              <a:latin typeface="Merriweather" panose="00000500000000000000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75421" y="3788093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75421" y="4105513"/>
            <a:ext cx="407943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772116" y="3765471"/>
            <a:ext cx="3298388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Model Selection &amp; Training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375552" y="4248953"/>
            <a:ext cx="4079438" cy="87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Choosing appropriate machine learning models and training them with the prepared data.</a:t>
            </a:r>
            <a:endParaRPr lang="en-US" sz="2000" dirty="0">
              <a:latin typeface="Merriweather" panose="00000500000000000000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17261" y="3788093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06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17261" y="4105513"/>
            <a:ext cx="407943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0009448" y="3747671"/>
            <a:ext cx="2503527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Model Evaluation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607271" y="4285119"/>
            <a:ext cx="4079438" cy="87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Assessing the trained model's performance and accuracy using various evaluation metrics.</a:t>
            </a:r>
            <a:endParaRPr lang="en-US" sz="2000" dirty="0">
              <a:latin typeface="Merriweather" panose="00000500000000000000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33582" y="5844659"/>
            <a:ext cx="200263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 Light" pitchFamily="34" charset="-122"/>
                <a:cs typeface="Merriweather Light" pitchFamily="34" charset="-120"/>
              </a:rPr>
              <a:t>07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33582" y="6162080"/>
            <a:ext cx="12563118" cy="22860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551444" y="5813345"/>
            <a:ext cx="3043714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Insights &amp; Final Outcome</a:t>
            </a:r>
            <a:endParaRPr lang="en-US" sz="2000" b="1" dirty="0">
              <a:latin typeface="Merriweather" panose="00000500000000000000" pitchFamily="2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33582" y="6422758"/>
            <a:ext cx="12563118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anose="00000500000000000000" pitchFamily="2" charset="0"/>
                <a:ea typeface="Merriweather" pitchFamily="34" charset="-122"/>
                <a:cs typeface="Merriweather" pitchFamily="34" charset="-120"/>
              </a:rPr>
              <a:t>Deriving actionable insights from the model and presenting the project's conclusions.</a:t>
            </a:r>
            <a:endParaRPr lang="en-US" sz="2000" dirty="0">
              <a:latin typeface="Merriweather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9D557B39-AA60-61BA-93EB-1F91D1CBCA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764923" y="1154803"/>
            <a:ext cx="11230094" cy="1118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Exploratory Data Analysis: Uncovering Trends &amp; Patterns</a:t>
            </a:r>
            <a:endParaRPr lang="en-US" sz="3500" b="1" dirty="0"/>
          </a:p>
        </p:txBody>
      </p:sp>
      <p:sp>
        <p:nvSpPr>
          <p:cNvPr id="4" name="Shape 2"/>
          <p:cNvSpPr/>
          <p:nvPr/>
        </p:nvSpPr>
        <p:spPr>
          <a:xfrm>
            <a:off x="1700093" y="3237905"/>
            <a:ext cx="5550098" cy="1748195"/>
          </a:xfrm>
          <a:prstGeom prst="roundRect">
            <a:avLst>
              <a:gd name="adj" fmla="val 6277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700093" y="3215045"/>
            <a:ext cx="5550098" cy="91440"/>
          </a:xfrm>
          <a:prstGeom prst="roundRect">
            <a:avLst>
              <a:gd name="adj" fmla="val 8223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206538" y="2969419"/>
            <a:ext cx="537091" cy="537091"/>
          </a:xfrm>
          <a:prstGeom prst="roundRect">
            <a:avLst>
              <a:gd name="adj" fmla="val 17025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67629" y="3130510"/>
            <a:ext cx="214789" cy="21478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01904" y="3685461"/>
            <a:ext cx="2237780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Reliability</a:t>
            </a:r>
            <a:endParaRPr lang="en-US" b="1" dirty="0"/>
          </a:p>
        </p:txBody>
      </p:sp>
      <p:sp>
        <p:nvSpPr>
          <p:cNvPr id="9" name="Text 6"/>
          <p:cNvSpPr/>
          <p:nvPr/>
        </p:nvSpPr>
        <p:spPr>
          <a:xfrm>
            <a:off x="1901904" y="4043124"/>
            <a:ext cx="5146477" cy="74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dataset is robust, showing no significant missing values and a wide range in rental counts, indicating diverse demand levels.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79970" y="3237905"/>
            <a:ext cx="5550218" cy="1748195"/>
          </a:xfrm>
          <a:prstGeom prst="roundRect">
            <a:avLst>
              <a:gd name="adj" fmla="val 6277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379970" y="3215045"/>
            <a:ext cx="5550218" cy="91440"/>
          </a:xfrm>
          <a:prstGeom prst="roundRect">
            <a:avLst>
              <a:gd name="adj" fmla="val 8223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9886533" y="2969419"/>
            <a:ext cx="537091" cy="537091"/>
          </a:xfrm>
          <a:prstGeom prst="roundRect">
            <a:avLst>
              <a:gd name="adj" fmla="val 17025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7625" y="3130510"/>
            <a:ext cx="214789" cy="21478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1781" y="3685461"/>
            <a:ext cx="2348984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Seasonal Dependency</a:t>
            </a:r>
            <a:endParaRPr lang="en-US" sz="1750" b="1" dirty="0"/>
          </a:p>
        </p:txBody>
      </p:sp>
      <p:sp>
        <p:nvSpPr>
          <p:cNvPr id="15" name="Text 11"/>
          <p:cNvSpPr/>
          <p:nvPr/>
        </p:nvSpPr>
        <p:spPr>
          <a:xfrm>
            <a:off x="7581781" y="4043124"/>
            <a:ext cx="5146596" cy="74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Demand significantly peaks in Summer and Fall, contrasting with lower activity observed during Winter months.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700093" y="5384363"/>
            <a:ext cx="5550098" cy="1501140"/>
          </a:xfrm>
          <a:prstGeom prst="roundRect">
            <a:avLst>
              <a:gd name="adj" fmla="val 7310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700093" y="5361503"/>
            <a:ext cx="5550098" cy="91440"/>
          </a:xfrm>
          <a:prstGeom prst="roundRect">
            <a:avLst>
              <a:gd name="adj" fmla="val 8223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4206538" y="5115878"/>
            <a:ext cx="537091" cy="537091"/>
          </a:xfrm>
          <a:prstGeom prst="roundRect">
            <a:avLst>
              <a:gd name="adj" fmla="val 17025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67629" y="5276969"/>
            <a:ext cx="214789" cy="21478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01904" y="5831919"/>
            <a:ext cx="2619851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Hourly Commuter Peaks</a:t>
            </a:r>
            <a:endParaRPr lang="en-US" sz="1750" b="1" dirty="0"/>
          </a:p>
        </p:txBody>
      </p:sp>
      <p:sp>
        <p:nvSpPr>
          <p:cNvPr id="21" name="Text 16"/>
          <p:cNvSpPr/>
          <p:nvPr/>
        </p:nvSpPr>
        <p:spPr>
          <a:xfrm>
            <a:off x="1901904" y="6189583"/>
            <a:ext cx="5146477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Consistent morning and evening surges in rentals reflect typical commuter-driven usage behavior.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379970" y="5384363"/>
            <a:ext cx="5550218" cy="1501140"/>
          </a:xfrm>
          <a:prstGeom prst="roundRect">
            <a:avLst>
              <a:gd name="adj" fmla="val 7310"/>
            </a:avLst>
          </a:prstGeom>
          <a:solidFill>
            <a:srgbClr val="09151A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379970" y="5361503"/>
            <a:ext cx="5550218" cy="91440"/>
          </a:xfrm>
          <a:prstGeom prst="roundRect">
            <a:avLst>
              <a:gd name="adj" fmla="val 82233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9886533" y="5115878"/>
            <a:ext cx="537091" cy="537091"/>
          </a:xfrm>
          <a:prstGeom prst="roundRect">
            <a:avLst>
              <a:gd name="adj" fmla="val 170250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47625" y="5276969"/>
            <a:ext cx="214789" cy="21478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81781" y="5831919"/>
            <a:ext cx="2237780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Progressive Growth</a:t>
            </a:r>
            <a:endParaRPr lang="en-US" sz="1750" b="1" dirty="0"/>
          </a:p>
        </p:txBody>
      </p:sp>
      <p:sp>
        <p:nvSpPr>
          <p:cNvPr id="27" name="Text 21"/>
          <p:cNvSpPr/>
          <p:nvPr/>
        </p:nvSpPr>
        <p:spPr>
          <a:xfrm>
            <a:off x="7581781" y="6189583"/>
            <a:ext cx="5146596" cy="49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Overall, rental demand shows a progressive increase over time, highlighting growing adoption and utility.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7A0AB5-50A1-3495-C516-151FC633D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422305" y="231684"/>
            <a:ext cx="8801814" cy="605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6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EDA: Feature Impact &amp; Correlation Analysis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430306" y="2151113"/>
            <a:ext cx="12961010" cy="430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9476" y="6952427"/>
            <a:ext cx="11861840" cy="553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correlation heatmap definitively shows that 'registered' users are the strongest predictor, followed closely by 'temp' and 'atemp', solidifying environmental and temporal variables as dominant drivers.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39084" y="6761367"/>
            <a:ext cx="22860" cy="895112"/>
          </a:xfrm>
          <a:prstGeom prst="rect">
            <a:avLst/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C7C7AF8-1925-A8CC-A92F-FE9A7643C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306" y="1606732"/>
            <a:ext cx="969785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Scatter plots and the correlation heatmap clearly indicate strong multicollinearity between temp and atemp,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 showing overlapping environmental influence observed.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erriweather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From the correlation heatmap, registered users exhibit the strongest positive relationship with total rentals,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 establishing them as the most significant predictor.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erriweather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Bar charts and distribution plots confirm that temperature and weather conditions act as primary external demand drivers,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 visibly increasing rental counts in favorable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erriweather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Visual analysis of scatter plots shows humidity has a moderate negative trend, while windspeed demonstrates a weaker inverse relationship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 with rental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erriweather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The chart-based patterns reveal non-linear relationships and correlated predictors,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erriweather" panose="00000500000000000000" pitchFamily="2" charset="0"/>
              </a:rPr>
              <a:t>supporting the need for ensemble models capable of handling feature interactions effectively.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erriweather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95650-6A03-C9B7-7ACD-4A79E87512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71" t="40450" r="44699" b="46394"/>
          <a:stretch>
            <a:fillRect/>
          </a:stretch>
        </p:blipFill>
        <p:spPr>
          <a:xfrm>
            <a:off x="10725423" y="2228231"/>
            <a:ext cx="3437232" cy="3281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79794BF3-E4C6-D51F-A5D5-17C964170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17929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444478" y="339328"/>
            <a:ext cx="6542365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EDA: Relationships &amp; Correlation Insights</a:t>
            </a:r>
            <a:endParaRPr lang="en-US" sz="3200" b="1" dirty="0"/>
          </a:p>
        </p:txBody>
      </p:sp>
      <p:sp>
        <p:nvSpPr>
          <p:cNvPr id="4" name="Text 1"/>
          <p:cNvSpPr/>
          <p:nvPr/>
        </p:nvSpPr>
        <p:spPr>
          <a:xfrm>
            <a:off x="7730966" y="932246"/>
            <a:ext cx="25727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Environmental Impact on Demand</a:t>
            </a:r>
            <a:endParaRPr lang="en-US" b="1" dirty="0"/>
          </a:p>
        </p:txBody>
      </p:sp>
      <p:sp>
        <p:nvSpPr>
          <p:cNvPr id="5" name="Shape 2"/>
          <p:cNvSpPr/>
          <p:nvPr/>
        </p:nvSpPr>
        <p:spPr>
          <a:xfrm>
            <a:off x="7376837" y="1636470"/>
            <a:ext cx="61674" cy="61674"/>
          </a:xfrm>
          <a:prstGeom prst="roundRect">
            <a:avLst>
              <a:gd name="adj" fmla="val 74131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616292" y="1445475"/>
            <a:ext cx="5117986" cy="633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 positive correlation with rental demand; higher temperatures lead to more rentals.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7674" y="2368031"/>
            <a:ext cx="61674" cy="61674"/>
          </a:xfrm>
          <a:prstGeom prst="roundRect">
            <a:avLst>
              <a:gd name="adj" fmla="val 74131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673269" y="2232278"/>
            <a:ext cx="5099896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Clear weather consistently generates maximum rentals, while adverse conditions (rain, snow) significantly reduce demand.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73315" y="3099592"/>
            <a:ext cx="61674" cy="61674"/>
          </a:xfrm>
          <a:prstGeom prst="roundRect">
            <a:avLst>
              <a:gd name="adj" fmla="val 74131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688173" y="3072515"/>
            <a:ext cx="5384070" cy="44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Humidity shows a mild negative impact, and windspeed exhibits a weak to moderate inverse influence on rental numbers.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28732" y="4453201"/>
            <a:ext cx="17027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0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Behavior Analysis</a:t>
            </a:r>
            <a:endParaRPr lang="en-US" sz="2000" b="1" dirty="0"/>
          </a:p>
        </p:txBody>
      </p:sp>
      <p:sp>
        <p:nvSpPr>
          <p:cNvPr id="15" name="Shape 12"/>
          <p:cNvSpPr/>
          <p:nvPr/>
        </p:nvSpPr>
        <p:spPr>
          <a:xfrm>
            <a:off x="417573" y="4965084"/>
            <a:ext cx="61674" cy="61674"/>
          </a:xfrm>
          <a:prstGeom prst="roundRect">
            <a:avLst>
              <a:gd name="adj" fmla="val 74131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61400" y="4920828"/>
            <a:ext cx="19969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Registered vs. Casual Users</a:t>
            </a:r>
            <a:endParaRPr lang="en-US" b="1" dirty="0"/>
          </a:p>
        </p:txBody>
      </p:sp>
      <p:sp>
        <p:nvSpPr>
          <p:cNvPr id="17" name="Text 14"/>
          <p:cNvSpPr/>
          <p:nvPr/>
        </p:nvSpPr>
        <p:spPr>
          <a:xfrm>
            <a:off x="571457" y="5243702"/>
            <a:ext cx="4980247" cy="60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Registered users contribute significantly more to </a:t>
            </a:r>
          </a:p>
          <a:p>
            <a:pPr marL="0" indent="0" algn="l">
              <a:lnSpc>
                <a:spcPts val="11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overall bike rental volume than casual users.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9442" y="6181372"/>
            <a:ext cx="61674" cy="61674"/>
          </a:xfrm>
          <a:prstGeom prst="roundRect">
            <a:avLst>
              <a:gd name="adj" fmla="val 741317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61400" y="6146606"/>
            <a:ext cx="24001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Rentals &amp; Registered Users</a:t>
            </a:r>
            <a:endParaRPr lang="en-US" b="1" dirty="0"/>
          </a:p>
        </p:txBody>
      </p:sp>
      <p:sp>
        <p:nvSpPr>
          <p:cNvPr id="20" name="Text 17"/>
          <p:cNvSpPr/>
          <p:nvPr/>
        </p:nvSpPr>
        <p:spPr>
          <a:xfrm>
            <a:off x="661400" y="6543915"/>
            <a:ext cx="4980246" cy="1137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strong positive correlation exists between the </a:t>
            </a:r>
          </a:p>
          <a:p>
            <a:pPr marL="0" indent="0" algn="l">
              <a:lnSpc>
                <a:spcPts val="11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number of registered users and total rentals, </a:t>
            </a:r>
          </a:p>
          <a:p>
            <a:pPr marL="0" indent="0" algn="l">
              <a:lnSpc>
                <a:spcPts val="11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underscoring their importance in the demand </a:t>
            </a:r>
          </a:p>
          <a:p>
            <a:pPr marL="0" indent="0" algn="l">
              <a:lnSpc>
                <a:spcPts val="11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1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418809" y="4856630"/>
            <a:ext cx="2539365" cy="1430755"/>
          </a:xfrm>
          <a:prstGeom prst="roundRect">
            <a:avLst>
              <a:gd name="adj" fmla="val 4155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7844790" y="4993594"/>
            <a:ext cx="154269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Strongest Predictors</a:t>
            </a:r>
            <a:endParaRPr lang="en-US" sz="1400" b="1" dirty="0"/>
          </a:p>
        </p:txBody>
      </p:sp>
      <p:sp>
        <p:nvSpPr>
          <p:cNvPr id="25" name="Text 21"/>
          <p:cNvSpPr/>
          <p:nvPr/>
        </p:nvSpPr>
        <p:spPr>
          <a:xfrm>
            <a:off x="7557397" y="5366645"/>
            <a:ext cx="2262188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Registered users, temp, and atemp are the most significant predictors of bike rental demand.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10175285" y="4856630"/>
            <a:ext cx="2539365" cy="1497731"/>
          </a:xfrm>
          <a:prstGeom prst="roundRect">
            <a:avLst>
              <a:gd name="adj" fmla="val 4155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10384155" y="5017269"/>
            <a:ext cx="172295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Multicollinearity Noted</a:t>
            </a:r>
            <a:endParaRPr lang="en-US" sz="1400" b="1" dirty="0"/>
          </a:p>
        </p:txBody>
      </p:sp>
      <p:sp>
        <p:nvSpPr>
          <p:cNvPr id="28" name="Text 24"/>
          <p:cNvSpPr/>
          <p:nvPr/>
        </p:nvSpPr>
        <p:spPr>
          <a:xfrm>
            <a:off x="10347847" y="5386917"/>
            <a:ext cx="2262188" cy="96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Moderate multicollinearity between temp atemp requires consideration during model development.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8672267" y="6543915"/>
            <a:ext cx="2668178" cy="1247537"/>
          </a:xfrm>
          <a:prstGeom prst="roundRect">
            <a:avLst>
              <a:gd name="adj" fmla="val 4155"/>
            </a:avLst>
          </a:prstGeom>
          <a:solidFill>
            <a:srgbClr val="09151A">
              <a:alpha val="95000"/>
            </a:srgbClr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8801080" y="4033179"/>
            <a:ext cx="2539365" cy="51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Key Findings</a:t>
            </a:r>
          </a:p>
        </p:txBody>
      </p:sp>
      <p:sp>
        <p:nvSpPr>
          <p:cNvPr id="31" name="Text 27"/>
          <p:cNvSpPr/>
          <p:nvPr/>
        </p:nvSpPr>
        <p:spPr>
          <a:xfrm>
            <a:off x="8855749" y="7008378"/>
            <a:ext cx="2262188" cy="5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Demand is primarily driven by environmental conditions, seasonal patterns, and the activity of registered users.</a:t>
            </a:r>
            <a:endParaRPr lang="en-US" sz="1400" dirty="0"/>
          </a:p>
        </p:txBody>
      </p:sp>
      <p:sp>
        <p:nvSpPr>
          <p:cNvPr id="34" name="Text 26">
            <a:extLst>
              <a:ext uri="{FF2B5EF4-FFF2-40B4-BE49-F238E27FC236}">
                <a16:creationId xmlns:a16="http://schemas.microsoft.com/office/drawing/2014/main" id="{04BF3492-1C2A-DD18-4284-FC924F46AD36}"/>
              </a:ext>
            </a:extLst>
          </p:cNvPr>
          <p:cNvSpPr/>
          <p:nvPr/>
        </p:nvSpPr>
        <p:spPr>
          <a:xfrm>
            <a:off x="8888278" y="6662354"/>
            <a:ext cx="18626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Primary Demand Drivers</a:t>
            </a:r>
            <a:endParaRPr lang="en-US" sz="1400" b="1" dirty="0"/>
          </a:p>
        </p:txBody>
      </p:sp>
      <p:pic>
        <p:nvPicPr>
          <p:cNvPr id="5121" name="Picture 1">
            <a:extLst>
              <a:ext uri="{FF2B5EF4-FFF2-40B4-BE49-F238E27FC236}">
                <a16:creationId xmlns:a16="http://schemas.microsoft.com/office/drawing/2014/main" id="{3957CCC0-E056-1451-9FB6-BE6BC047A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1" y="1054732"/>
            <a:ext cx="5602722" cy="2969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2">
            <a:extLst>
              <a:ext uri="{FF2B5EF4-FFF2-40B4-BE49-F238E27FC236}">
                <a16:creationId xmlns:a16="http://schemas.microsoft.com/office/drawing/2014/main" id="{C2F14D54-2EE9-20F4-7A1A-4BC160660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735962" y="2902057"/>
            <a:ext cx="952319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78FB9DEB-C7D4-A19F-41D1-7DF37EDC12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1976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592566" y="413860"/>
            <a:ext cx="9946362" cy="648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Engineering &amp; Data Preparation</a:t>
            </a:r>
            <a:endParaRPr lang="en-US" sz="4050" b="1" dirty="0"/>
          </a:p>
        </p:txBody>
      </p:sp>
      <p:sp>
        <p:nvSpPr>
          <p:cNvPr id="3" name="Text 1"/>
          <p:cNvSpPr/>
          <p:nvPr/>
        </p:nvSpPr>
        <p:spPr>
          <a:xfrm>
            <a:off x="572810" y="1686908"/>
            <a:ext cx="1302305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crucial stage involves meticulously preparing the data to ensure our models learn meaningful patterns and avoid misleading associations.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3672" y="2936319"/>
            <a:ext cx="3124795" cy="3354705"/>
          </a:xfrm>
          <a:prstGeom prst="roundRect">
            <a:avLst>
              <a:gd name="adj" fmla="val 3512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80812" y="2936319"/>
            <a:ext cx="91440" cy="3354705"/>
          </a:xfrm>
          <a:prstGeom prst="roundRect">
            <a:avLst>
              <a:gd name="adj" fmla="val 9536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2638" y="3166705"/>
            <a:ext cx="2595443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Predictor Variable Selection</a:t>
            </a:r>
            <a:endParaRPr lang="en-US" sz="2000" b="1" dirty="0"/>
          </a:p>
        </p:txBody>
      </p:sp>
      <p:sp>
        <p:nvSpPr>
          <p:cNvPr id="7" name="Text 5"/>
          <p:cNvSpPr/>
          <p:nvPr/>
        </p:nvSpPr>
        <p:spPr>
          <a:xfrm>
            <a:off x="1102638" y="3920371"/>
            <a:ext cx="2595443" cy="183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Carefully selected relevant variables, guided by prior correlation analysis and domain expertise, to maximize predictive power.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03013" y="2936319"/>
            <a:ext cx="3124914" cy="3354705"/>
          </a:xfrm>
          <a:prstGeom prst="roundRect">
            <a:avLst>
              <a:gd name="adj" fmla="val 3511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080153" y="2936319"/>
            <a:ext cx="91440" cy="3354705"/>
          </a:xfrm>
          <a:prstGeom prst="roundRect">
            <a:avLst>
              <a:gd name="adj" fmla="val 9536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01979" y="3166705"/>
            <a:ext cx="2595563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Target Leakage Prevention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4401979" y="3920371"/>
            <a:ext cx="2595563" cy="2140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Excluded variables that could lead to target leakage (e.g., 'casual' and 'registered' users to predict 'total' count) to ensure robust model generalization.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02473" y="2936319"/>
            <a:ext cx="3124795" cy="3354705"/>
          </a:xfrm>
          <a:prstGeom prst="roundRect">
            <a:avLst>
              <a:gd name="adj" fmla="val 3512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379613" y="2936319"/>
            <a:ext cx="91440" cy="3354705"/>
          </a:xfrm>
          <a:prstGeom prst="roundRect">
            <a:avLst>
              <a:gd name="adj" fmla="val 9536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01439" y="3166705"/>
            <a:ext cx="2595443" cy="648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Categorical Variable Handling</a:t>
            </a:r>
            <a:endParaRPr lang="en-US" sz="2000" b="1" dirty="0"/>
          </a:p>
        </p:txBody>
      </p:sp>
      <p:sp>
        <p:nvSpPr>
          <p:cNvPr id="15" name="Text 13"/>
          <p:cNvSpPr/>
          <p:nvPr/>
        </p:nvSpPr>
        <p:spPr>
          <a:xfrm>
            <a:off x="7701439" y="3920371"/>
            <a:ext cx="2595443" cy="1528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Appropriately encoded categorical variables (e.g., 'season', 'weather') for compatibility with regression models.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01814" y="2936319"/>
            <a:ext cx="3124914" cy="3354705"/>
          </a:xfrm>
          <a:prstGeom prst="roundRect">
            <a:avLst>
              <a:gd name="adj" fmla="val 3511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678954" y="2936319"/>
            <a:ext cx="91440" cy="3354705"/>
          </a:xfrm>
          <a:prstGeom prst="roundRect">
            <a:avLst>
              <a:gd name="adj" fmla="val 95362"/>
            </a:avLst>
          </a:prstGeom>
          <a:solidFill>
            <a:srgbClr val="609D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000780" y="3166705"/>
            <a:ext cx="2595086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Train-Test Split</a:t>
            </a:r>
            <a:endParaRPr lang="en-US" sz="2000" b="1" dirty="0"/>
          </a:p>
        </p:txBody>
      </p:sp>
      <p:sp>
        <p:nvSpPr>
          <p:cNvPr id="19" name="Text 17"/>
          <p:cNvSpPr/>
          <p:nvPr/>
        </p:nvSpPr>
        <p:spPr>
          <a:xfrm>
            <a:off x="11000780" y="3595926"/>
            <a:ext cx="2595563" cy="18345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Divided the dataset into distinct training and testing sets, ensuring no data leakage between them, for unbiased model evaluation.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3672" y="6644878"/>
            <a:ext cx="1302305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meticulous feature engineering process ensures models learn meaningful patterns instead of noise, leading to more accurate and reliable predictions.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AFE553A-5F60-2D70-7DA5-AE9BFCC190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0928" y="407228"/>
            <a:ext cx="5488543" cy="435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Regression Models Implemented</a:t>
            </a:r>
            <a:endParaRPr lang="en-US" sz="3200" b="1" dirty="0"/>
          </a:p>
        </p:txBody>
      </p:sp>
      <p:sp>
        <p:nvSpPr>
          <p:cNvPr id="3" name="Text 1"/>
          <p:cNvSpPr/>
          <p:nvPr/>
        </p:nvSpPr>
        <p:spPr>
          <a:xfrm>
            <a:off x="829746" y="1062549"/>
            <a:ext cx="11577407" cy="12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ctr">
              <a:lnSpc>
                <a:spcPts val="13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 identify the most effective predictive algorithm, we deployed and rigorously tested five distinct</a:t>
            </a:r>
          </a:p>
          <a:p>
            <a:pPr marL="0" indent="0" algn="ctr">
              <a:lnSpc>
                <a:spcPts val="135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regression models. Each model offers a unique approach to understanding and forecasting bike rental </a:t>
            </a:r>
          </a:p>
          <a:p>
            <a:pPr marL="0" indent="0">
              <a:lnSpc>
                <a:spcPts val="135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>
              <a:lnSpc>
                <a:spcPts val="13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demand.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719" y="2730817"/>
            <a:ext cx="464701" cy="4647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33856" y="2777665"/>
            <a:ext cx="2137072" cy="23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 Linear Regression</a:t>
            </a:r>
            <a:endParaRPr lang="en-US" sz="1500" b="1" dirty="0"/>
          </a:p>
        </p:txBody>
      </p:sp>
      <p:sp>
        <p:nvSpPr>
          <p:cNvPr id="6" name="Text 3"/>
          <p:cNvSpPr/>
          <p:nvPr/>
        </p:nvSpPr>
        <p:spPr>
          <a:xfrm>
            <a:off x="2393118" y="3175871"/>
            <a:ext cx="2577363" cy="1187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foundational statistical model, ideal for identifying linear relationships between variables.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934" y="2571946"/>
            <a:ext cx="464701" cy="4647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78128" y="2708114"/>
            <a:ext cx="3192639" cy="3805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2. Decision Tree Regressor</a:t>
            </a:r>
            <a:endParaRPr lang="en-US" sz="1600" b="1" dirty="0"/>
          </a:p>
        </p:txBody>
      </p:sp>
      <p:sp>
        <p:nvSpPr>
          <p:cNvPr id="9" name="Text 5"/>
          <p:cNvSpPr/>
          <p:nvPr/>
        </p:nvSpPr>
        <p:spPr>
          <a:xfrm>
            <a:off x="6240762" y="3318545"/>
            <a:ext cx="2210990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non-linear model that partitions the data space into smaller, more manageable regions.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388" y="2545678"/>
            <a:ext cx="464701" cy="4647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22440" y="2667762"/>
            <a:ext cx="3476402" cy="34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3. Random Forest Regressor</a:t>
            </a:r>
            <a:endParaRPr lang="en-US" sz="1600" b="1" dirty="0"/>
          </a:p>
        </p:txBody>
      </p:sp>
      <p:sp>
        <p:nvSpPr>
          <p:cNvPr id="12" name="Text 7"/>
          <p:cNvSpPr/>
          <p:nvPr/>
        </p:nvSpPr>
        <p:spPr>
          <a:xfrm>
            <a:off x="10632409" y="3010379"/>
            <a:ext cx="2109051" cy="135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 ensemble method using multiple decision trees to improve accuracy and reduce overfitting.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3719" y="4703184"/>
            <a:ext cx="464701" cy="46470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347882" y="4780152"/>
            <a:ext cx="3102659" cy="387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4. Gradient Boosting Regressor</a:t>
            </a:r>
            <a:endParaRPr lang="en-US" sz="1500" b="1" dirty="0"/>
          </a:p>
        </p:txBody>
      </p:sp>
      <p:sp>
        <p:nvSpPr>
          <p:cNvPr id="15" name="Text 9"/>
          <p:cNvSpPr/>
          <p:nvPr/>
        </p:nvSpPr>
        <p:spPr>
          <a:xfrm>
            <a:off x="2455546" y="5206996"/>
            <a:ext cx="2452508" cy="1046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Another powerful ensemble technique that builds models sequentially, correcting errors of previous models.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3906" y="4703183"/>
            <a:ext cx="464701" cy="46470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06087" y="4780152"/>
            <a:ext cx="2949233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5. Support Vector Regressor</a:t>
            </a:r>
            <a:endParaRPr lang="en-US" sz="1500" b="1" dirty="0"/>
          </a:p>
        </p:txBody>
      </p:sp>
      <p:sp>
        <p:nvSpPr>
          <p:cNvPr id="18" name="Text 11"/>
          <p:cNvSpPr/>
          <p:nvPr/>
        </p:nvSpPr>
        <p:spPr>
          <a:xfrm>
            <a:off x="8379323" y="5215921"/>
            <a:ext cx="2357480" cy="104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sz="16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versatile model that identifies an optimal hyperplane to predict continuous values.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29745" y="6999233"/>
            <a:ext cx="11577407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model was trained on the prepared training dataset and subsequently evaluated on unseen test </a:t>
            </a:r>
          </a:p>
          <a:p>
            <a:pPr marL="0" indent="0" algn="l">
              <a:lnSpc>
                <a:spcPts val="135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3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to assess its generalization performance and predictive robustness.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BB2097D-EA2D-6BD4-E403-80E2318715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025497" y="475535"/>
            <a:ext cx="8579406" cy="45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85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Evaluation</a:t>
            </a:r>
            <a:endParaRPr lang="en-US" sz="2850" b="1" dirty="0"/>
          </a:p>
        </p:txBody>
      </p:sp>
      <p:sp>
        <p:nvSpPr>
          <p:cNvPr id="3" name="Text 1"/>
          <p:cNvSpPr/>
          <p:nvPr/>
        </p:nvSpPr>
        <p:spPr>
          <a:xfrm>
            <a:off x="530122" y="1239613"/>
            <a:ext cx="12899007" cy="92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Models were rigorously evaluated using industry-standard metrics to ensure a comprehensive understanding of 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their predictive capabilities.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30122" y="2707779"/>
            <a:ext cx="217312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 Metrics</a:t>
            </a:r>
            <a:endParaRPr lang="en-US" sz="2000" b="1" dirty="0"/>
          </a:p>
        </p:txBody>
      </p:sp>
      <p:sp>
        <p:nvSpPr>
          <p:cNvPr id="5" name="Text 3"/>
          <p:cNvSpPr/>
          <p:nvPr/>
        </p:nvSpPr>
        <p:spPr>
          <a:xfrm>
            <a:off x="475772" y="3325535"/>
            <a:ext cx="5925027" cy="2742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b="1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MAE (Mean Absolute Error)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Represents the </a:t>
            </a:r>
          </a:p>
          <a:p>
            <a:pPr algn="l">
              <a:lnSpc>
                <a:spcPts val="1400"/>
              </a:lnSpc>
              <a:buSzPct val="100000"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400"/>
              </a:lnSpc>
              <a:buSzPct val="100000"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average prediction deviation.</a:t>
            </a:r>
            <a:endParaRPr lang="en-US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b="1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RMSE (Root Mean Squared Error)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Penalizes </a:t>
            </a:r>
          </a:p>
          <a:p>
            <a:pPr algn="l">
              <a:lnSpc>
                <a:spcPts val="1400"/>
              </a:lnSpc>
              <a:buSzPct val="100000"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400"/>
              </a:lnSpc>
              <a:buSzPct val="100000"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larger prediction errors more heavily.</a:t>
            </a:r>
            <a:endParaRPr lang="en-US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b="1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R² Score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 Measures the proportion of variance in </a:t>
            </a:r>
          </a:p>
          <a:p>
            <a:pPr algn="l">
              <a:lnSpc>
                <a:spcPts val="1400"/>
              </a:lnSpc>
              <a:buSzPct val="100000"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400"/>
              </a:lnSpc>
              <a:buSzPct val="100000"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dependent variable predictable from the </a:t>
            </a:r>
          </a:p>
          <a:p>
            <a:pPr algn="l">
              <a:lnSpc>
                <a:spcPts val="1400"/>
              </a:lnSpc>
              <a:buSzPct val="100000"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400"/>
              </a:lnSpc>
              <a:buSzPct val="100000"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independent variables.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76571" y="1934673"/>
            <a:ext cx="7064218" cy="4625948"/>
          </a:xfrm>
          <a:prstGeom prst="roundRect">
            <a:avLst>
              <a:gd name="adj" fmla="val 3296"/>
            </a:avLst>
          </a:prstGeom>
          <a:solidFill>
            <a:srgbClr val="E7E0FF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9391438" y="2157799"/>
            <a:ext cx="2173129" cy="271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Observations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7222078" y="2707779"/>
            <a:ext cx="6511851" cy="4212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2000" b="1" dirty="0">
              <a:solidFill>
                <a:srgbClr val="000000"/>
              </a:solidFill>
              <a:latin typeface="Bahnschrift Light" panose="020B0502040204020203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Linear Regression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: Performed reasonably but struggled with non-linear patterns, yielding a moderate R² score.</a:t>
            </a:r>
          </a:p>
          <a:p>
            <a:pPr algn="l">
              <a:lnSpc>
                <a:spcPts val="1400"/>
              </a:lnSpc>
              <a:buSzPct val="100000"/>
            </a:pPr>
            <a:endParaRPr lang="en-US" sz="2000" dirty="0">
              <a:latin typeface="Bahnschrift Light" panose="020B0502040204020203" pitchFamily="34" charset="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Decision Tree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: Captured non-linearity but was prone to overfitting, showing only slight improvement over linear models.</a:t>
            </a:r>
            <a:endParaRPr lang="en-US" sz="2000" dirty="0">
              <a:latin typeface="Bahnschrift Light" panose="020B0502040204020203" pitchFamily="34" charset="0"/>
            </a:endParaRPr>
          </a:p>
          <a:p>
            <a:pPr algn="l">
              <a:lnSpc>
                <a:spcPts val="1400"/>
              </a:lnSpc>
              <a:buSzPct val="100000"/>
            </a:pPr>
            <a:endParaRPr lang="en-US" sz="2000" b="1" dirty="0">
              <a:solidFill>
                <a:srgbClr val="000000"/>
              </a:solidFill>
              <a:latin typeface="Bahnschrift Light" panose="020B0502040204020203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Random Forest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: Demonstrated a strong improvement in accuracy with lower RMSE and better generalization, effectively handling non-linearity.</a:t>
            </a:r>
            <a:endParaRPr lang="en-US" sz="2000" dirty="0">
              <a:latin typeface="Bahnschrift Light" panose="020B0502040204020203" pitchFamily="34" charset="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2000" b="1" dirty="0">
              <a:solidFill>
                <a:srgbClr val="000000"/>
              </a:solidFill>
              <a:latin typeface="Bahnschrift Light" panose="020B0502040204020203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Gradient Boosting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: Exhibited high predictive performance, adept at capturing complex feature interactions, typically achieving the highest R².</a:t>
            </a:r>
            <a:endParaRPr lang="en-US" sz="2000" dirty="0">
              <a:latin typeface="Bahnschrift Light" panose="020B0502040204020203" pitchFamily="34" charset="0"/>
            </a:endParaRPr>
          </a:p>
          <a:p>
            <a:pPr algn="l">
              <a:lnSpc>
                <a:spcPts val="1400"/>
              </a:lnSpc>
              <a:buSzPct val="100000"/>
            </a:pPr>
            <a:endParaRPr lang="en-US" sz="2000" b="1" dirty="0">
              <a:solidFill>
                <a:srgbClr val="000000"/>
              </a:solidFill>
              <a:latin typeface="Bahnschrift Light" panose="020B0502040204020203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Support Vector Regressor</a:t>
            </a:r>
            <a:r>
              <a:rPr lang="en-US" sz="2000" dirty="0">
                <a:solidFill>
                  <a:srgbClr val="000000"/>
                </a:solidFill>
                <a:latin typeface="Bahnschrift Light" panose="020B0502040204020203" pitchFamily="34" charset="0"/>
                <a:ea typeface="Merriweather" pitchFamily="34" charset="-122"/>
                <a:cs typeface="Merriweather" pitchFamily="34" charset="-120"/>
              </a:rPr>
              <a:t>: Its performance was sensitive to parameter tuning, with effectiveness highly dependent on kernel selection.</a:t>
            </a:r>
            <a:endParaRPr lang="en-US" sz="2000" dirty="0">
              <a:latin typeface="Bahnschrift Light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121" y="7027932"/>
            <a:ext cx="11643949" cy="103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Ensemble models, such as Random Forest and Gradient Boosting, consistently  outperformed simpler 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linear models due to their advanced ability to model complex relationships within the data.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20C2BC4D-68E7-C9CF-16CA-26D91E0ABA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665055" y="498668"/>
            <a:ext cx="10331291" cy="607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Performance Comparison &amp; Selection</a:t>
            </a:r>
            <a:endParaRPr lang="en-US" sz="3800" b="1" dirty="0"/>
          </a:p>
        </p:txBody>
      </p:sp>
      <p:sp>
        <p:nvSpPr>
          <p:cNvPr id="3" name="Shape 1"/>
          <p:cNvSpPr/>
          <p:nvPr/>
        </p:nvSpPr>
        <p:spPr>
          <a:xfrm>
            <a:off x="1216819" y="2165509"/>
            <a:ext cx="12196643" cy="2876312"/>
          </a:xfrm>
          <a:prstGeom prst="roundRect">
            <a:avLst>
              <a:gd name="adj" fmla="val 283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4439" y="1372612"/>
            <a:ext cx="12181403" cy="476845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chemeClr val="bg1"/>
            </a:solidFill>
          </a:ln>
        </p:spPr>
      </p:sp>
      <p:sp>
        <p:nvSpPr>
          <p:cNvPr id="5" name="Text 3"/>
          <p:cNvSpPr/>
          <p:nvPr/>
        </p:nvSpPr>
        <p:spPr>
          <a:xfrm>
            <a:off x="1043346" y="1459656"/>
            <a:ext cx="44798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95311" y="1491264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750336" y="1507665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RMSE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77493" y="1489477"/>
            <a:ext cx="204358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09316" y="1869795"/>
            <a:ext cx="12181403" cy="476845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chemeClr val="bg1"/>
            </a:solidFill>
          </a:ln>
        </p:spPr>
      </p:sp>
      <p:sp>
        <p:nvSpPr>
          <p:cNvPr id="10" name="Text 8"/>
          <p:cNvSpPr/>
          <p:nvPr/>
        </p:nvSpPr>
        <p:spPr>
          <a:xfrm>
            <a:off x="1418987" y="2005215"/>
            <a:ext cx="44798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Decision Tree Regressor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10490" y="1939176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30686" y="1941094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82122" y="2000516"/>
            <a:ext cx="204358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0.99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09315" y="2345384"/>
            <a:ext cx="12181403" cy="476845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chemeClr val="bg1"/>
            </a:solidFill>
          </a:ln>
        </p:spPr>
      </p:sp>
      <p:sp>
        <p:nvSpPr>
          <p:cNvPr id="15" name="Text 13"/>
          <p:cNvSpPr/>
          <p:nvPr/>
        </p:nvSpPr>
        <p:spPr>
          <a:xfrm>
            <a:off x="1418987" y="2492860"/>
            <a:ext cx="44798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Random Forest Regressor </a:t>
            </a:r>
            <a:r>
              <a:rPr lang="en-US" sz="1500" b="1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5250" y="2492860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38276" y="2478768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82122" y="2532775"/>
            <a:ext cx="204358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1.00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209314" y="2854836"/>
            <a:ext cx="12181403" cy="476845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chemeClr val="bg1"/>
            </a:solidFill>
          </a:ln>
        </p:spPr>
      </p:sp>
      <p:sp>
        <p:nvSpPr>
          <p:cNvPr id="20" name="Text 18"/>
          <p:cNvSpPr/>
          <p:nvPr/>
        </p:nvSpPr>
        <p:spPr>
          <a:xfrm>
            <a:off x="1418987" y="2970067"/>
            <a:ext cx="44798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Gradient Boosting Regressor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10490" y="2999275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38276" y="2986964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282121" y="2954252"/>
            <a:ext cx="204358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0.99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09313" y="3414178"/>
            <a:ext cx="12181403" cy="476845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Text 23"/>
          <p:cNvSpPr/>
          <p:nvPr/>
        </p:nvSpPr>
        <p:spPr>
          <a:xfrm>
            <a:off x="1665055" y="3556629"/>
            <a:ext cx="44798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10490" y="3556629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38276" y="3550697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0.12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296022" y="3553545"/>
            <a:ext cx="204358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0.99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209317" y="3908947"/>
            <a:ext cx="12181403" cy="476845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chemeClr val="bg1"/>
            </a:solidFill>
          </a:ln>
        </p:spPr>
      </p:sp>
      <p:sp>
        <p:nvSpPr>
          <p:cNvPr id="30" name="Text 28"/>
          <p:cNvSpPr/>
          <p:nvPr/>
        </p:nvSpPr>
        <p:spPr>
          <a:xfrm>
            <a:off x="1403390" y="3977125"/>
            <a:ext cx="4479846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 Vector Regressor (SVR)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95311" y="4033474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23125" y="4008019"/>
            <a:ext cx="203977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0.08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274979" y="4022919"/>
            <a:ext cx="2043589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0.99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2057" y="4666893"/>
            <a:ext cx="12196643" cy="3064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Merriweather" panose="00000500000000000000" pitchFamily="2" charset="0"/>
              </a:rPr>
              <a:t>Final Observations</a:t>
            </a:r>
          </a:p>
          <a:p>
            <a:endParaRPr lang="en-US" sz="15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erriweather" panose="00000500000000000000" pitchFamily="2" charset="0"/>
              </a:rPr>
              <a:t>All regression models achieved exceptionally high R² values (~0.99), indicating strong explanatory power across approaches.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erriweather" panose="00000500000000000000" pitchFamily="2" charset="0"/>
              </a:rPr>
              <a:t>Linear Regression showed comparatively higher error values, suggesting limitations in handling non-linear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erriweather" panose="00000500000000000000" pitchFamily="2" charset="0"/>
              </a:rPr>
              <a:t>Tree-based models demonstrated better adaptability to complex relationships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erriweather" panose="00000500000000000000" pitchFamily="2" charset="0"/>
              </a:rPr>
              <a:t>Ensemble methods (Random Forest and Gradient Boosting) consistently produced lower error metrics than individual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erriweather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Merriweather" panose="00000500000000000000" pitchFamily="2" charset="0"/>
              </a:rPr>
              <a:t>Random Forest achieved the most balanced and stable performance across all evaluation metrics. </a:t>
            </a: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Random Forest model offered the most accurate, stable, and reliable predictions, making it the optimal choice for forecasting bike rental </a:t>
            </a: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demand.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Merriweather" panose="00000500000000000000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898F81E-59C5-8195-D26B-674455E621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3064370" y="360594"/>
            <a:ext cx="7486650" cy="576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Random Forest Was Selected</a:t>
            </a:r>
            <a:endParaRPr lang="en-US" sz="3600" b="1" dirty="0"/>
          </a:p>
        </p:txBody>
      </p:sp>
      <p:sp>
        <p:nvSpPr>
          <p:cNvPr id="3" name="Shape 1"/>
          <p:cNvSpPr/>
          <p:nvPr/>
        </p:nvSpPr>
        <p:spPr>
          <a:xfrm>
            <a:off x="1525072" y="1985129"/>
            <a:ext cx="5721072" cy="1302187"/>
          </a:xfrm>
          <a:prstGeom prst="roundRect">
            <a:avLst>
              <a:gd name="adj" fmla="val 595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32478" y="2192536"/>
            <a:ext cx="2803327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Minimal Prediction Error</a:t>
            </a:r>
            <a:endParaRPr lang="en-US" sz="1800" b="1" dirty="0"/>
          </a:p>
        </p:txBody>
      </p:sp>
      <p:sp>
        <p:nvSpPr>
          <p:cNvPr id="5" name="Text 3"/>
          <p:cNvSpPr/>
          <p:nvPr/>
        </p:nvSpPr>
        <p:spPr>
          <a:xfrm>
            <a:off x="1732478" y="2563654"/>
            <a:ext cx="530625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Achieved the lowest MAE (0.02) and lowest RMSE (0.06), indicating highly accurate predictions.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84137" y="1985129"/>
            <a:ext cx="5721072" cy="1302187"/>
          </a:xfrm>
          <a:prstGeom prst="roundRect">
            <a:avLst>
              <a:gd name="adj" fmla="val 595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91544" y="2192536"/>
            <a:ext cx="270831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 Explanatory Power</a:t>
            </a:r>
            <a:endParaRPr lang="en-US" sz="1800" b="1" dirty="0"/>
          </a:p>
        </p:txBody>
      </p:sp>
      <p:sp>
        <p:nvSpPr>
          <p:cNvPr id="8" name="Text 6"/>
          <p:cNvSpPr/>
          <p:nvPr/>
        </p:nvSpPr>
        <p:spPr>
          <a:xfrm>
            <a:off x="7591544" y="2563654"/>
            <a:ext cx="530625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Recorded the highest R² score (1.00), explaining nearly all variance in rental demand.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525072" y="3425309"/>
            <a:ext cx="5721072" cy="1560314"/>
          </a:xfrm>
          <a:prstGeom prst="roundRect">
            <a:avLst>
              <a:gd name="adj" fmla="val 4969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2478" y="3632716"/>
            <a:ext cx="2978110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Robust Against Overfitting</a:t>
            </a:r>
            <a:endParaRPr lang="en-US" sz="1800" b="1" dirty="0"/>
          </a:p>
        </p:txBody>
      </p:sp>
      <p:sp>
        <p:nvSpPr>
          <p:cNvPr id="11" name="Text 9"/>
          <p:cNvSpPr/>
          <p:nvPr/>
        </p:nvSpPr>
        <p:spPr>
          <a:xfrm>
            <a:off x="1732478" y="4003834"/>
            <a:ext cx="5306258" cy="77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Reduced overfitting by averaging multiple decision trees, providing better generalization than a single Decision Tree model.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84137" y="3425309"/>
            <a:ext cx="5721072" cy="1560314"/>
          </a:xfrm>
          <a:prstGeom prst="roundRect">
            <a:avLst>
              <a:gd name="adj" fmla="val 4969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1544" y="3632716"/>
            <a:ext cx="3885367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Captures Non-Linear Relationships</a:t>
            </a:r>
            <a:endParaRPr lang="en-US" sz="1800" b="1" dirty="0"/>
          </a:p>
        </p:txBody>
      </p:sp>
      <p:sp>
        <p:nvSpPr>
          <p:cNvPr id="14" name="Text 12"/>
          <p:cNvSpPr/>
          <p:nvPr/>
        </p:nvSpPr>
        <p:spPr>
          <a:xfrm>
            <a:off x="7591544" y="4003834"/>
            <a:ext cx="5306258" cy="77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Effectively captured complex non-linear relationships identified during EDA, such as temperature, seasonality, and weather impact.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525072" y="5123617"/>
            <a:ext cx="5721072" cy="1302187"/>
          </a:xfrm>
          <a:prstGeom prst="roundRect">
            <a:avLst>
              <a:gd name="adj" fmla="val 595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2478" y="5331023"/>
            <a:ext cx="2663785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Consistent Performance</a:t>
            </a:r>
            <a:endParaRPr lang="en-US" sz="1800" b="1" dirty="0"/>
          </a:p>
        </p:txBody>
      </p:sp>
      <p:sp>
        <p:nvSpPr>
          <p:cNvPr id="17" name="Text 15"/>
          <p:cNvSpPr/>
          <p:nvPr/>
        </p:nvSpPr>
        <p:spPr>
          <a:xfrm>
            <a:off x="1732478" y="5702141"/>
            <a:ext cx="530625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Delivered consistent performance across both training and testing datasets, ensuring reliability.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84137" y="5123617"/>
            <a:ext cx="5721072" cy="1302187"/>
          </a:xfrm>
          <a:prstGeom prst="roundRect">
            <a:avLst>
              <a:gd name="adj" fmla="val 5954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91544" y="5331023"/>
            <a:ext cx="3600331" cy="28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Optimal Bias-Variance Trade-off</a:t>
            </a:r>
            <a:endParaRPr lang="en-US" sz="1800" b="1" dirty="0"/>
          </a:p>
        </p:txBody>
      </p:sp>
      <p:sp>
        <p:nvSpPr>
          <p:cNvPr id="20" name="Text 18"/>
          <p:cNvSpPr/>
          <p:nvPr/>
        </p:nvSpPr>
        <p:spPr>
          <a:xfrm>
            <a:off x="7591544" y="5702141"/>
            <a:ext cx="5306258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Provided a strong balance between bias and variance, leading to a stable and accurate model.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C7490689-B728-1B33-D2F4-48C7179146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63798" y="600901"/>
            <a:ext cx="1272778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Deployment &amp; Prediction</a:t>
            </a:r>
            <a:endParaRPr lang="en-US" sz="4850" b="1" dirty="0"/>
          </a:p>
        </p:txBody>
      </p:sp>
      <p:sp>
        <p:nvSpPr>
          <p:cNvPr id="3" name="Shape 1"/>
          <p:cNvSpPr/>
          <p:nvPr/>
        </p:nvSpPr>
        <p:spPr>
          <a:xfrm>
            <a:off x="863798" y="2377083"/>
            <a:ext cx="4136350" cy="4740235"/>
          </a:xfrm>
          <a:prstGeom prst="roundRect">
            <a:avLst>
              <a:gd name="adj" fmla="val 2506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78" y="2407563"/>
            <a:ext cx="4075390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5" name="Text 3"/>
          <p:cNvSpPr/>
          <p:nvPr/>
        </p:nvSpPr>
        <p:spPr>
          <a:xfrm>
            <a:off x="2746891" y="2538770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1141095" y="339482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Serialization</a:t>
            </a:r>
            <a:endParaRPr lang="en-US" sz="2400" b="1" dirty="0"/>
          </a:p>
        </p:txBody>
      </p:sp>
      <p:sp>
        <p:nvSpPr>
          <p:cNvPr id="7" name="Text 5"/>
          <p:cNvSpPr/>
          <p:nvPr/>
        </p:nvSpPr>
        <p:spPr>
          <a:xfrm>
            <a:off x="1141095" y="3928348"/>
            <a:ext cx="358175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trained Random Forest model was saved using joblib to enable reuse without retraining.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41095" y="5655588"/>
            <a:ext cx="358175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converts the trained model into a deployable file format.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6965" y="2377083"/>
            <a:ext cx="4136350" cy="4740235"/>
          </a:xfrm>
          <a:prstGeom prst="roundRect">
            <a:avLst>
              <a:gd name="adj" fmla="val 2506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77445" y="2407563"/>
            <a:ext cx="4075390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11" name="Text 9"/>
          <p:cNvSpPr/>
          <p:nvPr/>
        </p:nvSpPr>
        <p:spPr>
          <a:xfrm>
            <a:off x="7130058" y="2538770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5524262" y="3394829"/>
            <a:ext cx="3460075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Application Integration</a:t>
            </a:r>
            <a:endParaRPr lang="en-US" sz="2400" b="1" dirty="0"/>
          </a:p>
        </p:txBody>
      </p:sp>
      <p:sp>
        <p:nvSpPr>
          <p:cNvPr id="13" name="Text 11"/>
          <p:cNvSpPr/>
          <p:nvPr/>
        </p:nvSpPr>
        <p:spPr>
          <a:xfrm>
            <a:off x="5524262" y="3928348"/>
            <a:ext cx="358175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lightweight interface can be developed using </a:t>
            </a:r>
            <a:r>
              <a:rPr lang="en-US" sz="1900" dirty="0" err="1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Streamlit</a:t>
            </a: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524262" y="5260777"/>
            <a:ext cx="358175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User inputs suchs as hour, temperature, season, and weather are collected through the interface.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630132" y="2377083"/>
            <a:ext cx="4136350" cy="4740235"/>
          </a:xfrm>
          <a:prstGeom prst="roundRect">
            <a:avLst>
              <a:gd name="adj" fmla="val 2506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60612" y="2407563"/>
            <a:ext cx="4075390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sp>
        <p:nvSpPr>
          <p:cNvPr id="17" name="Text 15"/>
          <p:cNvSpPr/>
          <p:nvPr/>
        </p:nvSpPr>
        <p:spPr>
          <a:xfrm>
            <a:off x="11513225" y="2538770"/>
            <a:ext cx="370165" cy="46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907429" y="3394829"/>
            <a:ext cx="315098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Prediction</a:t>
            </a:r>
            <a:endParaRPr lang="en-US" sz="2400" b="1" dirty="0"/>
          </a:p>
        </p:txBody>
      </p:sp>
      <p:sp>
        <p:nvSpPr>
          <p:cNvPr id="19" name="Text 17"/>
          <p:cNvSpPr/>
          <p:nvPr/>
        </p:nvSpPr>
        <p:spPr>
          <a:xfrm>
            <a:off x="9907429" y="3928348"/>
            <a:ext cx="358175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deployed model processes input features and generates rental demand predictions instantly.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907429" y="5655588"/>
            <a:ext cx="358175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output supports demand forecasting and operational decision-making.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12DCCD-82C0-8FDA-F5D1-2510C4EE49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03" b="6011"/>
          <a:stretch>
            <a:fillRect/>
          </a:stretch>
        </p:blipFill>
        <p:spPr>
          <a:xfrm>
            <a:off x="0" y="1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15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B1F07E7D-F698-CCA5-DC87-7787C68523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130325" y="324113"/>
            <a:ext cx="1045982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0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 Faced </a:t>
            </a:r>
            <a:endParaRPr lang="en-US" sz="4000" b="1" dirty="0"/>
          </a:p>
        </p:txBody>
      </p:sp>
      <p:sp>
        <p:nvSpPr>
          <p:cNvPr id="3" name="Text 1"/>
          <p:cNvSpPr/>
          <p:nvPr/>
        </p:nvSpPr>
        <p:spPr>
          <a:xfrm>
            <a:off x="896329" y="1239198"/>
            <a:ext cx="11693815" cy="1134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20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During the course of this project, several challenges were encountered and successfully  </a:t>
            </a:r>
          </a:p>
          <a:p>
            <a:pPr marL="0" indent="0" algn="l">
              <a:lnSpc>
                <a:spcPts val="1750"/>
              </a:lnSpc>
              <a:buNone/>
            </a:pPr>
            <a:endParaRPr lang="en-US" sz="20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75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navigated, enriching our understanding and refining our approach to predictive modeling.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40255" y="2625923"/>
            <a:ext cx="5217676" cy="1361599"/>
          </a:xfrm>
          <a:prstGeom prst="roundRect">
            <a:avLst>
              <a:gd name="adj" fmla="val 51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15991" y="2801660"/>
            <a:ext cx="338840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Categorical Variable Management</a:t>
            </a:r>
            <a:endParaRPr lang="en-US" sz="1650" b="1" dirty="0"/>
          </a:p>
        </p:txBody>
      </p:sp>
      <p:sp>
        <p:nvSpPr>
          <p:cNvPr id="6" name="Text 4"/>
          <p:cNvSpPr/>
          <p:nvPr/>
        </p:nvSpPr>
        <p:spPr>
          <a:xfrm>
            <a:off x="2215991" y="3133130"/>
            <a:ext cx="48662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Properly handling categorical variables to ensure their effective integration into diverse regression models.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72469" y="2625923"/>
            <a:ext cx="5217676" cy="1361599"/>
          </a:xfrm>
          <a:prstGeom prst="roundRect">
            <a:avLst>
              <a:gd name="adj" fmla="val 51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48205" y="2801660"/>
            <a:ext cx="249686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Avoiding Target Leakage</a:t>
            </a:r>
            <a:endParaRPr lang="en-US" sz="1650" b="1" dirty="0"/>
          </a:p>
        </p:txBody>
      </p:sp>
      <p:sp>
        <p:nvSpPr>
          <p:cNvPr id="9" name="Text 7"/>
          <p:cNvSpPr/>
          <p:nvPr/>
        </p:nvSpPr>
        <p:spPr>
          <a:xfrm>
            <a:off x="7548205" y="3133130"/>
            <a:ext cx="486620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Preventing situations where 'casual' and 'registered' user counts could artificially inflate the prediction of 'total' rentals.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040255" y="4102060"/>
            <a:ext cx="5217676" cy="1361599"/>
          </a:xfrm>
          <a:prstGeom prst="roundRect">
            <a:avLst>
              <a:gd name="adj" fmla="val 51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15991" y="4277797"/>
            <a:ext cx="2822496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Mitigating Multicollinearity</a:t>
            </a:r>
            <a:endParaRPr lang="en-US" sz="1650" b="1" dirty="0"/>
          </a:p>
        </p:txBody>
      </p:sp>
      <p:sp>
        <p:nvSpPr>
          <p:cNvPr id="12" name="Text 10"/>
          <p:cNvSpPr/>
          <p:nvPr/>
        </p:nvSpPr>
        <p:spPr>
          <a:xfrm>
            <a:off x="2215991" y="4609267"/>
            <a:ext cx="486620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Addressing the strong multicollinearity between 'temperature' and 'apparent temperature' to ensure robust model coefficients.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72469" y="4102060"/>
            <a:ext cx="5217676" cy="1361599"/>
          </a:xfrm>
          <a:prstGeom prst="roundRect">
            <a:avLst>
              <a:gd name="adj" fmla="val 51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548205" y="4277797"/>
            <a:ext cx="2288619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Preventing Overfitting</a:t>
            </a:r>
            <a:endParaRPr lang="en-US" sz="1650" b="1" dirty="0"/>
          </a:p>
        </p:txBody>
      </p:sp>
      <p:sp>
        <p:nvSpPr>
          <p:cNvPr id="15" name="Text 13"/>
          <p:cNvSpPr/>
          <p:nvPr/>
        </p:nvSpPr>
        <p:spPr>
          <a:xfrm>
            <a:off x="7548205" y="4609267"/>
            <a:ext cx="486620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Implementing strategies to prevent tree-based models from overfitting the training data, ensuring better generalization.</a:t>
            </a:r>
            <a:endParaRPr lang="en-US" sz="1300" b="1" dirty="0"/>
          </a:p>
        </p:txBody>
      </p:sp>
      <p:sp>
        <p:nvSpPr>
          <p:cNvPr id="16" name="Shape 14"/>
          <p:cNvSpPr/>
          <p:nvPr/>
        </p:nvSpPr>
        <p:spPr>
          <a:xfrm>
            <a:off x="1979056" y="5639396"/>
            <a:ext cx="5217676" cy="1361599"/>
          </a:xfrm>
          <a:prstGeom prst="roundRect">
            <a:avLst>
              <a:gd name="adj" fmla="val 51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215991" y="5753933"/>
            <a:ext cx="2778681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 Metric Selection</a:t>
            </a:r>
            <a:endParaRPr lang="en-US" sz="1650" b="1" dirty="0"/>
          </a:p>
        </p:txBody>
      </p:sp>
      <p:sp>
        <p:nvSpPr>
          <p:cNvPr id="18" name="Text 16"/>
          <p:cNvSpPr/>
          <p:nvPr/>
        </p:nvSpPr>
        <p:spPr>
          <a:xfrm>
            <a:off x="2215991" y="6085403"/>
            <a:ext cx="486620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Choosing the most appropriate evaluation metrics (MAE, RMSE, R²) that accurately reflect model performance for this specific business problem.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72469" y="5578197"/>
            <a:ext cx="5217676" cy="1361599"/>
          </a:xfrm>
          <a:prstGeom prst="roundRect">
            <a:avLst>
              <a:gd name="adj" fmla="val 518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548205" y="5753933"/>
            <a:ext cx="3166110" cy="262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Ensuring Model Generalization</a:t>
            </a:r>
            <a:endParaRPr lang="en-US" sz="1650" b="1" dirty="0"/>
          </a:p>
        </p:txBody>
      </p:sp>
      <p:sp>
        <p:nvSpPr>
          <p:cNvPr id="21" name="Text 19"/>
          <p:cNvSpPr/>
          <p:nvPr/>
        </p:nvSpPr>
        <p:spPr>
          <a:xfrm>
            <a:off x="7548205" y="6085403"/>
            <a:ext cx="4866203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Validating that the selected model performs reliably on unseen data, guaranteeing its practical utility in real-world scenarios.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70A30A04-1DED-D183-0D28-61843BCD66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457200" y="381000"/>
            <a:ext cx="6999923" cy="412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Insights from the Predictive Model</a:t>
            </a:r>
            <a:endParaRPr lang="en-US" sz="3200" b="1" dirty="0"/>
          </a:p>
        </p:txBody>
      </p:sp>
      <p:sp>
        <p:nvSpPr>
          <p:cNvPr id="4" name="Shape 2"/>
          <p:cNvSpPr/>
          <p:nvPr/>
        </p:nvSpPr>
        <p:spPr>
          <a:xfrm>
            <a:off x="809294" y="1334614"/>
            <a:ext cx="297180" cy="29718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1258644" y="1483204"/>
            <a:ext cx="2246471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Temperature as a Key Driver</a:t>
            </a:r>
            <a:endParaRPr lang="en-US" sz="2400" b="1" dirty="0"/>
          </a:p>
        </p:txBody>
      </p:sp>
      <p:sp>
        <p:nvSpPr>
          <p:cNvPr id="6" name="Text 4"/>
          <p:cNvSpPr/>
          <p:nvPr/>
        </p:nvSpPr>
        <p:spPr>
          <a:xfrm>
            <a:off x="1258644" y="1913659"/>
            <a:ext cx="12655589" cy="1050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Temperature is the strongest environmental factor influencing rental demand, with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higher temperatures correlating directly to increased usage.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14446" y="3382368"/>
            <a:ext cx="297180" cy="29718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1292696" y="3480220"/>
            <a:ext cx="2212419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Significant Seasonal Impact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1292696" y="4066681"/>
            <a:ext cx="12458364" cy="76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Rental patterns are heavily influenced by seasonal variations, necessitating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adaptive inventory and staffing levels throughout the year.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071" y="5508242"/>
            <a:ext cx="297180" cy="29718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1258644" y="5656788"/>
            <a:ext cx="2107049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Registered Users: The Core</a:t>
            </a:r>
            <a:endParaRPr lang="en-US" sz="2400" b="1" dirty="0"/>
          </a:p>
        </p:txBody>
      </p:sp>
      <p:sp>
        <p:nvSpPr>
          <p:cNvPr id="12" name="Text 10"/>
          <p:cNvSpPr/>
          <p:nvPr/>
        </p:nvSpPr>
        <p:spPr>
          <a:xfrm>
            <a:off x="1258644" y="6275448"/>
            <a:ext cx="12854711" cy="1158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Registered users form the backbone of the rental system, indicating a stable,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subscriber-based demand that can be leveraged for loyalty programs.</a:t>
            </a:r>
            <a:endParaRPr lang="en-US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27FD04-2870-CC22-3AF2-2342B0F7DA48}"/>
              </a:ext>
            </a:extLst>
          </p:cNvPr>
          <p:cNvSpPr txBox="1"/>
          <p:nvPr/>
        </p:nvSpPr>
        <p:spPr>
          <a:xfrm>
            <a:off x="1106474" y="10399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0026-AFD5-2E4F-DD2A-4E425646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8F16061-09E8-518D-0CA2-6A54206E2F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0" y="0"/>
            <a:ext cx="14630400" cy="835510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CD555F7-86AB-C46F-3E56-FBA4E4CECC62}"/>
              </a:ext>
            </a:extLst>
          </p:cNvPr>
          <p:cNvSpPr/>
          <p:nvPr/>
        </p:nvSpPr>
        <p:spPr>
          <a:xfrm>
            <a:off x="4077452" y="48886"/>
            <a:ext cx="6999923" cy="113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50"/>
              </a:lnSpc>
              <a:buNone/>
            </a:pPr>
            <a:endParaRPr lang="en-US" sz="3600" b="1" dirty="0">
              <a:solidFill>
                <a:srgbClr val="F5F0F0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ctr">
              <a:lnSpc>
                <a:spcPts val="3250"/>
              </a:lnSpc>
              <a:buNone/>
            </a:pPr>
            <a:r>
              <a:rPr lang="en-US" sz="36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Business Insights from </a:t>
            </a:r>
          </a:p>
          <a:p>
            <a:pPr marL="0" indent="0" algn="ctr">
              <a:lnSpc>
                <a:spcPts val="3250"/>
              </a:lnSpc>
              <a:buNone/>
            </a:pPr>
            <a:r>
              <a:rPr lang="en-US" sz="36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Predictive Model</a:t>
            </a:r>
            <a:endParaRPr lang="en-US" sz="3600" b="1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9157A7C-F469-31B2-B8C9-6BD1838A4D20}"/>
              </a:ext>
            </a:extLst>
          </p:cNvPr>
          <p:cNvSpPr/>
          <p:nvPr/>
        </p:nvSpPr>
        <p:spPr>
          <a:xfrm>
            <a:off x="820770" y="2181697"/>
            <a:ext cx="297180" cy="29718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5C46D05-42A0-7834-1A29-69CC004C010A}"/>
              </a:ext>
            </a:extLst>
          </p:cNvPr>
          <p:cNvSpPr/>
          <p:nvPr/>
        </p:nvSpPr>
        <p:spPr>
          <a:xfrm>
            <a:off x="1486923" y="2272542"/>
            <a:ext cx="1897261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Commuting Hour Peaks</a:t>
            </a:r>
            <a:endParaRPr lang="en-US" sz="2400" b="1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17442F-C125-7AF3-CBB6-39EFCD9969AD}"/>
              </a:ext>
            </a:extLst>
          </p:cNvPr>
          <p:cNvSpPr/>
          <p:nvPr/>
        </p:nvSpPr>
        <p:spPr>
          <a:xfrm>
            <a:off x="1486924" y="2692581"/>
            <a:ext cx="11655336" cy="91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Demand peaks significantly during morning and evening commuting hours,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identifying prime opportunities for strategic bike placement and availability.</a:t>
            </a:r>
            <a:endParaRPr lang="en-US" sz="2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E0A2C3B-0DCC-A845-675C-CE8BF51BD1E5}"/>
              </a:ext>
            </a:extLst>
          </p:cNvPr>
          <p:cNvSpPr/>
          <p:nvPr/>
        </p:nvSpPr>
        <p:spPr>
          <a:xfrm>
            <a:off x="809294" y="4269052"/>
            <a:ext cx="297180" cy="29718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82375C-71A9-6896-A534-F5A055464A7E}"/>
              </a:ext>
            </a:extLst>
          </p:cNvPr>
          <p:cNvSpPr/>
          <p:nvPr/>
        </p:nvSpPr>
        <p:spPr>
          <a:xfrm>
            <a:off x="1486923" y="4359897"/>
            <a:ext cx="2036921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Weather-Related Declines</a:t>
            </a:r>
            <a:endParaRPr lang="en-US" sz="2400" b="1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683006C-B856-1DE3-04D8-9E40288589B8}"/>
              </a:ext>
            </a:extLst>
          </p:cNvPr>
          <p:cNvSpPr/>
          <p:nvPr/>
        </p:nvSpPr>
        <p:spPr>
          <a:xfrm>
            <a:off x="1486924" y="4591373"/>
            <a:ext cx="11794996" cy="91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Adverse weather conditions cause noticeable declines in rentals, highlighting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need for real-time weather integration into operational planning.</a:t>
            </a:r>
            <a:endParaRPr lang="en-US" sz="24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7BF3DEA-54E0-A15E-7BE4-6BC557051268}"/>
              </a:ext>
            </a:extLst>
          </p:cNvPr>
          <p:cNvSpPr/>
          <p:nvPr/>
        </p:nvSpPr>
        <p:spPr>
          <a:xfrm>
            <a:off x="809294" y="6084764"/>
            <a:ext cx="297180" cy="297180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1B9DE41-6307-9BD3-46C9-118F5551DB94}"/>
              </a:ext>
            </a:extLst>
          </p:cNvPr>
          <p:cNvSpPr/>
          <p:nvPr/>
        </p:nvSpPr>
        <p:spPr>
          <a:xfrm>
            <a:off x="1486924" y="6139863"/>
            <a:ext cx="1753672" cy="20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Optimized Operations</a:t>
            </a:r>
            <a:endParaRPr lang="en-US" sz="2400" b="1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FAFE4B0-1331-8342-1C98-9DA4B9730192}"/>
              </a:ext>
            </a:extLst>
          </p:cNvPr>
          <p:cNvSpPr/>
          <p:nvPr/>
        </p:nvSpPr>
        <p:spPr>
          <a:xfrm>
            <a:off x="1486923" y="6447252"/>
            <a:ext cx="11655337" cy="911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Predictive modeling can forecast high-demand days, allowing for optimized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inventory management and workforce planning, leading to greater efficiency </a:t>
            </a:r>
          </a:p>
          <a:p>
            <a:pPr marL="0" indent="0" algn="l">
              <a:lnSpc>
                <a:spcPts val="1250"/>
              </a:lnSpc>
              <a:buNone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lnSpc>
                <a:spcPts val="125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and customer satisfaction.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60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6E32-DED8-2691-D79D-3CC04FE23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E63D62D-AC8A-C2B7-6128-F5A66D9EC1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-7858" y="-6056"/>
            <a:ext cx="14630400" cy="8235655"/>
          </a:xfrm>
          <a:prstGeom prst="rect">
            <a:avLst/>
          </a:prstGeom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DC09768-4E32-97D2-94F3-2F0C537A1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5BF1EC5-76A4-B013-A116-5E77EB81E37F}"/>
              </a:ext>
            </a:extLst>
          </p:cNvPr>
          <p:cNvSpPr/>
          <p:nvPr/>
        </p:nvSpPr>
        <p:spPr>
          <a:xfrm>
            <a:off x="6918029" y="243619"/>
            <a:ext cx="5865376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Suggestions</a:t>
            </a:r>
            <a:endParaRPr lang="en-US" sz="32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53EB9D-FB38-DE24-30D9-99E178641FC1}"/>
              </a:ext>
            </a:extLst>
          </p:cNvPr>
          <p:cNvSpPr/>
          <p:nvPr/>
        </p:nvSpPr>
        <p:spPr>
          <a:xfrm>
            <a:off x="5927884" y="1121614"/>
            <a:ext cx="2751058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2200" b="1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21A30A2-9018-FDEC-3362-A962379A8A25}"/>
              </a:ext>
            </a:extLst>
          </p:cNvPr>
          <p:cNvSpPr/>
          <p:nvPr/>
        </p:nvSpPr>
        <p:spPr>
          <a:xfrm>
            <a:off x="5963840" y="2070740"/>
            <a:ext cx="8181261" cy="5644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This project successfully analyzed the key factors 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influencing bike rental demand and developed a 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reliable predictive model. 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Random Forest Regressor consistently 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demonstrated the best performance, achieving the 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highest R² score and lowest error metrics  among the 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evaluated models.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Its ability to capture complex non-linear 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relationships and seasonal variations highlights the 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effectiveness of data-driven modeling in providing 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valuable business intelligence for bike</a:t>
            </a:r>
          </a:p>
          <a:p>
            <a:pPr algn="l">
              <a:lnSpc>
                <a:spcPts val="1300"/>
              </a:lnSpc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sharing systems.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81894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73AEEE7-0905-2B9F-F150-E9A01039CB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6"/>
          <a:stretch>
            <a:fillRect/>
          </a:stretch>
        </p:blipFill>
        <p:spPr>
          <a:xfrm>
            <a:off x="-7858" y="-6055"/>
            <a:ext cx="14630400" cy="8197656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18029" y="243619"/>
            <a:ext cx="5865376" cy="429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&amp; Suggestions</a:t>
            </a:r>
            <a:endParaRPr lang="en-US" sz="3200" b="1" dirty="0"/>
          </a:p>
        </p:txBody>
      </p:sp>
      <p:sp>
        <p:nvSpPr>
          <p:cNvPr id="6" name="Text 3"/>
          <p:cNvSpPr/>
          <p:nvPr/>
        </p:nvSpPr>
        <p:spPr>
          <a:xfrm>
            <a:off x="5741680" y="1200175"/>
            <a:ext cx="2881908" cy="343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Improvements</a:t>
            </a:r>
            <a:endParaRPr lang="en-US" sz="2200" b="1" dirty="0"/>
          </a:p>
        </p:txBody>
      </p:sp>
      <p:sp>
        <p:nvSpPr>
          <p:cNvPr id="7" name="Text 4"/>
          <p:cNvSpPr/>
          <p:nvPr/>
        </p:nvSpPr>
        <p:spPr>
          <a:xfrm>
            <a:off x="5760086" y="1805856"/>
            <a:ext cx="8181261" cy="4617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Implement advanced hyperparameter tuning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techniques to further optimize model performance.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Develop and deploy the model as a web-based 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forecasting tool to enable real-time prediction and </a:t>
            </a:r>
          </a:p>
          <a:p>
            <a:pPr algn="l">
              <a:lnSpc>
                <a:spcPts val="1300"/>
              </a:lnSpc>
              <a:buSzPct val="100000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accessibility for operational planning.</a:t>
            </a:r>
          </a:p>
          <a:p>
            <a:pPr algn="l">
              <a:lnSpc>
                <a:spcPts val="1300"/>
              </a:lnSpc>
              <a:buSzPct val="100000"/>
            </a:pPr>
            <a:endParaRPr lang="en-US" sz="2400" dirty="0">
              <a:solidFill>
                <a:srgbClr val="E2E6E9"/>
              </a:solidFill>
              <a:latin typeface="Merriweather" pitchFamily="34" charset="0"/>
            </a:endParaRPr>
          </a:p>
          <a:p>
            <a:pPr algn="l">
              <a:lnSpc>
                <a:spcPts val="1300"/>
              </a:lnSpc>
              <a:buSzPct val="100000"/>
            </a:pPr>
            <a:endParaRPr lang="en-US" sz="24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Incorporate additional external features such as 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public holidays, special events, and weather forecasts </a:t>
            </a:r>
          </a:p>
          <a:p>
            <a:pPr algn="l">
              <a:lnSpc>
                <a:spcPts val="1300"/>
              </a:lnSpc>
              <a:buSzPct val="100000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 enhance prediction accuracy.</a:t>
            </a:r>
            <a:endParaRPr lang="en-US" sz="24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Explore advanced time-series models for 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potentially improved capture of temporal </a:t>
            </a:r>
          </a:p>
          <a:p>
            <a:pPr algn="l">
              <a:lnSpc>
                <a:spcPts val="1300"/>
              </a:lnSpc>
              <a:buSzPct val="100000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dependencies.</a:t>
            </a:r>
            <a:endParaRPr lang="en-US" sz="24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Establish a continuous retraining mechanism to </a:t>
            </a:r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update the model with new data, ensuring sustained </a:t>
            </a:r>
          </a:p>
          <a:p>
            <a:pPr algn="l">
              <a:lnSpc>
                <a:spcPts val="1300"/>
              </a:lnSpc>
              <a:buSzPct val="100000"/>
            </a:pPr>
            <a:endParaRPr lang="en-US" sz="2400" dirty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algn="l">
              <a:lnSpc>
                <a:spcPts val="1300"/>
              </a:lnSpc>
              <a:buSzPct val="100000"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accuracy and adaptability to evolving patterns.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- Free Download on Freepik">
            <a:extLst>
              <a:ext uri="{FF2B5EF4-FFF2-40B4-BE49-F238E27FC236}">
                <a16:creationId xmlns:a16="http://schemas.microsoft.com/office/drawing/2014/main" id="{5E554403-69B5-D80C-711D-FF27B7021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448" y="1260662"/>
            <a:ext cx="11108391" cy="6287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5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2178</Words>
  <Application>Microsoft Office PowerPoint</Application>
  <PresentationFormat>Custom</PresentationFormat>
  <Paragraphs>412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Merriweather</vt:lpstr>
      <vt:lpstr>Arial</vt:lpstr>
      <vt:lpstr>Bahnschrift Light</vt:lpstr>
      <vt:lpstr>Eras Bold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SRIVIDHYAA JAGADEESAN</cp:lastModifiedBy>
  <cp:revision>21</cp:revision>
  <dcterms:created xsi:type="dcterms:W3CDTF">2026-02-15T06:23:07Z</dcterms:created>
  <dcterms:modified xsi:type="dcterms:W3CDTF">2026-02-17T03:03:10Z</dcterms:modified>
</cp:coreProperties>
</file>